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2011680"/>
            <a:ext cx="91440" cy="292608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1920240"/>
            <a:ext cx="10058400" cy="228600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defRPr sz="5600" b="1">
                <a:solidFill>
                  <a:srgbClr val="FFFFFF"/>
                </a:solidFill>
                <a:latin typeface="Trebuchet MS"/>
              </a:defRPr>
            </a:pPr>
            <a:r>
              <a:t>MuleDNA</a:t>
            </a:r>
          </a:p>
          <a:p>
            <a:pPr>
              <a:spcBef>
                <a:spcPts val="1000"/>
              </a:spcBef>
              <a:defRPr sz="2200">
                <a:solidFill>
                  <a:srgbClr val="0EA5E9"/>
                </a:solidFill>
                <a:latin typeface="Trebuchet MS"/>
              </a:defRPr>
            </a:pPr>
            <a:r>
              <a:t>AI-Powered Fraud Network &amp; Mule Account Intelligence</a:t>
            </a:r>
          </a:p>
          <a:p>
            <a:pPr>
              <a:spcBef>
                <a:spcPts val="1500"/>
              </a:spcBef>
              <a:defRPr sz="1400">
                <a:solidFill>
                  <a:srgbClr val="94A3B8"/>
                </a:solidFill>
                <a:latin typeface="Calibri"/>
              </a:defRPr>
            </a:pPr>
            <a:r>
              <a:t>Real-time Graph Community Detection &amp; Machine Learning Ensemble for Advanced AML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5029200"/>
            <a:ext cx="10058400" cy="91440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Calibri"/>
              </a:defRPr>
            </a:pPr>
            <a:r>
              <a:t>HACKATHON PRESENTATION  •  FINTECH &amp; AML TRACK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Trebuchet MS"/>
              </a:defRPr>
            </a:pPr>
            <a:r>
              <a:t>MULEDNA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Trebuchet MS"/>
              </a:defRPr>
            </a:pPr>
            <a:r>
              <a:t>The Mule Account Challenge in Modern Banking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5029200" cy="43891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4480560" cy="40233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defRPr sz="1800" b="1">
                <a:solidFill>
                  <a:srgbClr val="F43F5E"/>
                </a:solidFill>
                <a:latin typeface="Trebuchet MS"/>
              </a:defRPr>
            </a:pPr>
            <a:r>
              <a:t>The Threat: Money Mules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Calibri"/>
              </a:defRPr>
            </a:pPr>
            <a:r>
              <a:t>Money mules are accounts used by criminals to receive and disperse illicit funds, masking the identity of the true organizers.</a:t>
            </a:r>
          </a:p>
          <a:p>
            <a:pPr>
              <a:lnSpc>
                <a:spcPct val="120000"/>
              </a:lnSpc>
              <a:spcBef>
                <a:spcPts val="1500"/>
              </a:spcBef>
              <a:defRPr sz="1300">
                <a:solidFill>
                  <a:srgbClr val="FFFFFF"/>
                </a:solidFill>
                <a:latin typeface="Calibri"/>
              </a:defRPr>
            </a:pPr>
            <a:r>
              <a:t>• Scalability of Fraud: Layering is automated, making it easy for illicit networks to run thousands of transactions concurrently.</a:t>
            </a:r>
            <a:br/>
            <a:r>
              <a:t>• Innocent Proxies: Often utilizes students, elderly, or compromised identities, making criminal prosecution difficult.</a:t>
            </a:r>
            <a:br/>
            <a:r>
              <a:t>• Extreme Velocity: Funds are transferred out of mule accounts within minutes (often seconds) of receipt.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0" y="1645920"/>
            <a:ext cx="5029200" cy="43891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0" y="1828800"/>
            <a:ext cx="4480560" cy="40233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defRPr sz="1800" b="1">
                <a:solidFill>
                  <a:srgbClr val="0EA5E9"/>
                </a:solidFill>
                <a:latin typeface="Trebuchet MS"/>
              </a:defRPr>
            </a:pPr>
            <a:r>
              <a:t>Why Traditional AML Fails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Calibri"/>
              </a:defRPr>
            </a:pPr>
            <a:r>
              <a:t>Legacy Anti-Money Laundering (AML) solutions rely on static, rule-based alerts that are easily bypassed.</a:t>
            </a:r>
          </a:p>
          <a:p>
            <a:pPr>
              <a:lnSpc>
                <a:spcPct val="120000"/>
              </a:lnSpc>
              <a:spcBef>
                <a:spcPts val="1500"/>
              </a:spcBef>
              <a:defRPr sz="1300">
                <a:solidFill>
                  <a:srgbClr val="FFFFFF"/>
                </a:solidFill>
                <a:latin typeface="Calibri"/>
              </a:defRPr>
            </a:pPr>
            <a:r>
              <a:t>• Isolated Checks: Standard systems look at transactions in isolation, failing to see the collective network structure.</a:t>
            </a:r>
            <a:br/>
            <a:r>
              <a:t>• Slow Auditing: Manual generation of Suspicious Activity Reports (SARs) takes days while funds are long gone.</a:t>
            </a:r>
            <a:br/>
            <a:r>
              <a:t>• High False Positives: Floods analysts with flags on normal customer spikes, masking real threat behavior.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Trebuchet MS"/>
              </a:defRPr>
            </a:pPr>
            <a:r>
              <a:t>MULEDNA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Trebuchet MS"/>
              </a:defRPr>
            </a:pPr>
            <a:r>
              <a:t>Introducing MuleDNA: The Network Intelligence Engine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3291840" cy="43891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2926080" cy="40233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defRPr sz="1800" b="1">
                <a:solidFill>
                  <a:srgbClr val="0EA5E9"/>
                </a:solidFill>
                <a:latin typeface="Trebuchet MS"/>
              </a:defRPr>
            </a:pPr>
            <a:r>
              <a:t>Machine Learning Core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Calibri"/>
              </a:defRPr>
            </a:pPr>
            <a:r>
              <a:t>An ensemble pipeline that scores individual account risks using transaction metadata.</a:t>
            </a:r>
          </a:p>
          <a:p>
            <a:pPr>
              <a:lnSpc>
                <a:spcPct val="120000"/>
              </a:lnSpc>
              <a:spcBef>
                <a:spcPts val="1500"/>
              </a:spcBef>
              <a:defRPr sz="1250">
                <a:solidFill>
                  <a:srgbClr val="FFFFFF"/>
                </a:solidFill>
                <a:latin typeface="Calibri"/>
              </a:defRPr>
            </a:pPr>
            <a:r>
              <a:t>• XGBoost &amp; LightGBM for classification</a:t>
            </a:r>
            <a:br/>
            <a:r>
              <a:t>• Isolation Forest for anomaly detection</a:t>
            </a:r>
            <a:br/>
            <a:r>
              <a:t>• Optuna-driven hyperparameter tuning</a:t>
            </a:r>
            <a:br/>
            <a:r>
              <a:t>• Resilient Custom SMOTE handling class imbalance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4434840" y="1645920"/>
            <a:ext cx="3291840" cy="43891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1828800"/>
            <a:ext cx="2926080" cy="40233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defRPr sz="1800" b="1">
                <a:solidFill>
                  <a:srgbClr val="10B981"/>
                </a:solidFill>
                <a:latin typeface="Trebuchet MS"/>
              </a:defRPr>
            </a:pPr>
            <a:r>
              <a:t>Network Graph Analysis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Calibri"/>
              </a:defRPr>
            </a:pPr>
            <a:r>
              <a:t>A structural mapping of funds moving across the system to reveal organized syndicates.</a:t>
            </a:r>
          </a:p>
          <a:p>
            <a:pPr>
              <a:lnSpc>
                <a:spcPct val="120000"/>
              </a:lnSpc>
              <a:spcBef>
                <a:spcPts val="1500"/>
              </a:spcBef>
              <a:defRPr sz="1250">
                <a:solidFill>
                  <a:srgbClr val="FFFFFF"/>
                </a:solidFill>
                <a:latin typeface="Calibri"/>
              </a:defRPr>
            </a:pPr>
            <a:r>
              <a:t>• NetworkX directed graph analysis</a:t>
            </a:r>
            <a:br/>
            <a:r>
              <a:t>• Louvain Community Detection to partition fraud rings</a:t>
            </a:r>
            <a:br/>
            <a:r>
              <a:t>• Centrality scoring to find shell controllers</a:t>
            </a:r>
            <a:br/>
            <a:r>
              <a:t>• Custom community layouts for rapid visual review</a:t>
            </a:r>
          </a:p>
        </p:txBody>
      </p:sp>
      <p:sp>
        <p:nvSpPr>
          <p:cNvPr id="8" name="Rectangle 7"/>
          <p:cNvSpPr/>
          <p:nvPr/>
        </p:nvSpPr>
        <p:spPr>
          <a:xfrm>
            <a:off x="8138160" y="1645920"/>
            <a:ext cx="3291840" cy="43891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40" y="1828800"/>
            <a:ext cx="2926080" cy="40233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defRPr sz="1800" b="1">
                <a:solidFill>
                  <a:srgbClr val="F43F5E"/>
                </a:solidFill>
                <a:latin typeface="Trebuchet MS"/>
              </a:defRPr>
            </a:pPr>
            <a:r>
              <a:t>Automated Alerting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Calibri"/>
              </a:defRPr>
            </a:pPr>
            <a:r>
              <a:t>Real-time communication tools that flag and mitigate threats the moment they arise.</a:t>
            </a:r>
          </a:p>
          <a:p>
            <a:pPr>
              <a:lnSpc>
                <a:spcPct val="120000"/>
              </a:lnSpc>
              <a:spcBef>
                <a:spcPts val="1500"/>
              </a:spcBef>
              <a:defRPr sz="1250">
                <a:solidFill>
                  <a:srgbClr val="FFFFFF"/>
                </a:solidFill>
                <a:latin typeface="Calibri"/>
              </a:defRPr>
            </a:pPr>
            <a:r>
              <a:t>• Instant Socket.io real-time UI logs</a:t>
            </a:r>
            <a:br/>
            <a:r>
              <a:t>• Twilio-powered Automated SMS &amp; Voice escalation</a:t>
            </a:r>
            <a:br/>
            <a:r>
              <a:t>• Firebase Cloud Messaging Push notifications</a:t>
            </a:r>
            <a:br/>
            <a:r>
              <a:t>• 1-click PDF SAR Generator for compliance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Trebuchet MS"/>
              </a:defRPr>
            </a:pPr>
            <a:r>
              <a:t>MULEDNA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Trebuchet MS"/>
              </a:defRPr>
            </a:pPr>
            <a:r>
              <a:t>Robust, High-Resiliency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828800"/>
            <a:ext cx="2377440" cy="4114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920240"/>
            <a:ext cx="2103120" cy="384048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Trebuchet MS"/>
              </a:defRPr>
            </a:pPr>
            <a:r>
              <a:t>1. REACT UX</a:t>
            </a:r>
          </a:p>
          <a:p>
            <a:pPr>
              <a:spcBef>
                <a:spcPts val="300"/>
              </a:spcBef>
              <a:defRPr sz="1100">
                <a:solidFill>
                  <a:srgbClr val="94A3B8"/>
                </a:solidFill>
                <a:latin typeface="Calibri"/>
              </a:defRPr>
            </a:pPr>
            <a:r>
              <a:t>Interactive Frontend</a:t>
            </a:r>
          </a:p>
          <a:p>
            <a:pPr>
              <a:lnSpc>
                <a:spcPct val="130000"/>
              </a:lnSpc>
              <a:spcBef>
                <a:spcPts val="1800"/>
              </a:spcBef>
              <a:defRPr sz="1200">
                <a:solidFill>
                  <a:srgbClr val="FFFFFF"/>
                </a:solidFill>
                <a:latin typeface="Calibri"/>
              </a:defRPr>
            </a:pPr>
            <a:r>
              <a:t>• React Flow interactive canvas</a:t>
            </a:r>
            <a:br/>
            <a:r>
              <a:t>• Live state update via WebSockets</a:t>
            </a:r>
            <a:br/>
            <a:r>
              <a:t>• Metrics &amp; ML training panels</a:t>
            </a:r>
            <a:br/>
            <a:r>
              <a:t>• Interactive alert controls</a:t>
            </a:r>
          </a:p>
        </p:txBody>
      </p:sp>
      <p:sp>
        <p:nvSpPr>
          <p:cNvPr id="6" name="Rectangle 5"/>
          <p:cNvSpPr/>
          <p:nvPr/>
        </p:nvSpPr>
        <p:spPr>
          <a:xfrm>
            <a:off x="3474720" y="1828800"/>
            <a:ext cx="2377440" cy="4114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11880" y="1920240"/>
            <a:ext cx="2103120" cy="384048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defRPr sz="1600" b="1">
                <a:solidFill>
                  <a:srgbClr val="0EA5E9"/>
                </a:solidFill>
                <a:latin typeface="Trebuchet MS"/>
              </a:defRPr>
            </a:pPr>
            <a:r>
              <a:t>2. FASTAPI CORE</a:t>
            </a:r>
          </a:p>
          <a:p>
            <a:pPr>
              <a:spcBef>
                <a:spcPts val="300"/>
              </a:spcBef>
              <a:defRPr sz="1100">
                <a:solidFill>
                  <a:srgbClr val="94A3B8"/>
                </a:solidFill>
                <a:latin typeface="Calibri"/>
              </a:defRPr>
            </a:pPr>
            <a:r>
              <a:t>Async API &amp; Routing</a:t>
            </a:r>
          </a:p>
          <a:p>
            <a:pPr>
              <a:lnSpc>
                <a:spcPct val="130000"/>
              </a:lnSpc>
              <a:spcBef>
                <a:spcPts val="1800"/>
              </a:spcBef>
              <a:defRPr sz="1200">
                <a:solidFill>
                  <a:srgbClr val="FFFFFF"/>
                </a:solidFill>
                <a:latin typeface="Calibri"/>
              </a:defRPr>
            </a:pPr>
            <a:r>
              <a:t>• High performance routes</a:t>
            </a:r>
            <a:br/>
            <a:r>
              <a:t>• Modular API routers</a:t>
            </a:r>
            <a:br/>
            <a:r>
              <a:t>• Background task workers</a:t>
            </a:r>
            <a:br/>
            <a:r>
              <a:t>• Seamless SQLite/Postgres fallback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828800"/>
            <a:ext cx="2377440" cy="4114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920240"/>
            <a:ext cx="2103120" cy="384048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defRPr sz="1600" b="1">
                <a:solidFill>
                  <a:srgbClr val="10B981"/>
                </a:solidFill>
                <a:latin typeface="Trebuchet MS"/>
              </a:defRPr>
            </a:pPr>
            <a:r>
              <a:t>3. ANALYTICS</a:t>
            </a:r>
          </a:p>
          <a:p>
            <a:pPr>
              <a:spcBef>
                <a:spcPts val="300"/>
              </a:spcBef>
              <a:defRPr sz="1100">
                <a:solidFill>
                  <a:srgbClr val="94A3B8"/>
                </a:solidFill>
                <a:latin typeface="Calibri"/>
              </a:defRPr>
            </a:pPr>
            <a:r>
              <a:t>Graph + ML Engines</a:t>
            </a:r>
          </a:p>
          <a:p>
            <a:pPr>
              <a:lnSpc>
                <a:spcPct val="130000"/>
              </a:lnSpc>
              <a:spcBef>
                <a:spcPts val="1800"/>
              </a:spcBef>
              <a:defRPr sz="1200">
                <a:solidFill>
                  <a:srgbClr val="FFFFFF"/>
                </a:solidFill>
                <a:latin typeface="Calibri"/>
              </a:defRPr>
            </a:pPr>
            <a:r>
              <a:t>• Feature computation pipeline</a:t>
            </a:r>
            <a:br/>
            <a:r>
              <a:t>• Ensemble ML predictions</a:t>
            </a:r>
            <a:br/>
            <a:r>
              <a:t>• NetworkX graph partitioner</a:t>
            </a:r>
            <a:br/>
            <a:r>
              <a:t>• Louvain community classifier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8961120" y="1828800"/>
            <a:ext cx="2377440" cy="4114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98280" y="1920240"/>
            <a:ext cx="2103120" cy="384048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defRPr sz="1600" b="1">
                <a:solidFill>
                  <a:srgbClr val="F43F5E"/>
                </a:solidFill>
                <a:latin typeface="Trebuchet MS"/>
              </a:defRPr>
            </a:pPr>
            <a:r>
              <a:t>4. EXTERNAL</a:t>
            </a:r>
          </a:p>
          <a:p>
            <a:pPr>
              <a:spcBef>
                <a:spcPts val="300"/>
              </a:spcBef>
              <a:defRPr sz="1100">
                <a:solidFill>
                  <a:srgbClr val="94A3B8"/>
                </a:solidFill>
                <a:latin typeface="Calibri"/>
              </a:defRPr>
            </a:pPr>
            <a:r>
              <a:t>Resilient Integrations</a:t>
            </a:r>
          </a:p>
          <a:p>
            <a:pPr>
              <a:lnSpc>
                <a:spcPct val="130000"/>
              </a:lnSpc>
              <a:spcBef>
                <a:spcPts val="1800"/>
              </a:spcBef>
              <a:defRPr sz="1200">
                <a:solidFill>
                  <a:srgbClr val="FFFFFF"/>
                </a:solidFill>
                <a:latin typeface="Calibri"/>
              </a:defRPr>
            </a:pPr>
            <a:r>
              <a:t>• Twilio SMS &amp; Voice alerts</a:t>
            </a:r>
            <a:br/>
            <a:r>
              <a:t>• Offline-tolerant MongoDB logger</a:t>
            </a:r>
            <a:br/>
            <a:r>
              <a:t>• Offline-tolerant Redis cache</a:t>
            </a:r>
            <a:br/>
            <a:r>
              <a:t>• fpdf2 Suspicious Activity PDF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54680" y="3474720"/>
            <a:ext cx="365760" cy="7315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defRPr sz="2800">
                <a:solidFill>
                  <a:srgbClr val="0EA5E9"/>
                </a:solidFill>
                <a:latin typeface="Calibri"/>
              </a:defRPr>
            </a:pPr>
            <a:r>
              <a:t>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97880" y="3474720"/>
            <a:ext cx="365760" cy="7315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defRPr sz="2800">
                <a:solidFill>
                  <a:srgbClr val="0EA5E9"/>
                </a:solidFill>
                <a:latin typeface="Calibri"/>
              </a:defRPr>
            </a:pPr>
            <a:r>
              <a:t>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41080" y="3474720"/>
            <a:ext cx="365760" cy="7315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defRPr sz="2800">
                <a:solidFill>
                  <a:srgbClr val="0EA5E9"/>
                </a:solidFill>
                <a:latin typeface="Calibri"/>
              </a:defRPr>
            </a:pPr>
            <a:r>
              <a:t>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Trebuchet MS"/>
              </a:defRPr>
            </a:pPr>
            <a:r>
              <a:t>MULEDNA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Trebuchet MS"/>
              </a:defRPr>
            </a:pPr>
            <a:r>
              <a:t>Advanced Machine Learning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5120640" cy="43891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4572000" cy="40233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defRPr sz="1800" b="1">
                <a:solidFill>
                  <a:srgbClr val="0EA5E9"/>
                </a:solidFill>
                <a:latin typeface="Trebuchet MS"/>
              </a:defRPr>
            </a:pPr>
            <a:r>
              <a:t>Engineered Behavioral Features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Calibri"/>
              </a:defRPr>
            </a:pPr>
            <a:r>
              <a:t>Features calculated on-the-fly to capture transaction behaviors, rather than simple static balances.</a:t>
            </a:r>
          </a:p>
          <a:p>
            <a:pPr>
              <a:lnSpc>
                <a:spcPct val="130000"/>
              </a:lnSpc>
              <a:spcBef>
                <a:spcPts val="1500"/>
              </a:spcBef>
              <a:defRPr sz="1250">
                <a:solidFill>
                  <a:srgbClr val="FFFFFF"/>
                </a:solidFill>
                <a:latin typeface="Calibri"/>
              </a:defRPr>
            </a:pPr>
            <a:r>
              <a:t>• Velocity Ratio: Frequencies of inbound vs outbound transfers.</a:t>
            </a:r>
            <a:br/>
            <a:r>
              <a:t>• Counterparty Entropy: Diversity of sender/receiver accounts.</a:t>
            </a:r>
            <a:br/>
            <a:r>
              <a:t>• Impossible Travel: Detection of geographical jumps in logins.</a:t>
            </a:r>
            <a:br/>
            <a:r>
              <a:t>• Night Transaction Ratio: Spike in off-hours transfers.</a:t>
            </a:r>
            <a:br/>
            <a:r>
              <a:t>• Holding Time: Time gap between funds landing and leaving.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6309360" y="1645920"/>
            <a:ext cx="5120640" cy="43891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828800"/>
            <a:ext cx="4572000" cy="40233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defRPr sz="1800" b="1">
                <a:solidFill>
                  <a:srgbClr val="10B981"/>
                </a:solidFill>
                <a:latin typeface="Trebuchet MS"/>
              </a:defRPr>
            </a:pPr>
            <a:r>
              <a:t>The Ensemble Training Pipeline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Calibri"/>
              </a:defRPr>
            </a:pPr>
            <a:r>
              <a:t>Proprietary ensemble combines supervised gradient boosters and unsupervised anomaly detection.</a:t>
            </a:r>
          </a:p>
          <a:p>
            <a:pPr>
              <a:lnSpc>
                <a:spcPct val="125000"/>
              </a:lnSpc>
              <a:spcBef>
                <a:spcPts val="1200"/>
              </a:spcBef>
              <a:defRPr sz="1250">
                <a:solidFill>
                  <a:srgbClr val="FFFFFF"/>
                </a:solidFill>
                <a:latin typeface="Calibri"/>
              </a:defRPr>
            </a:pPr>
            <a:r>
              <a:t>1. Custom SMOTE: Oversamples rare fraud classes natively by interpolating minority nearest-neighbors (no dependency).</a:t>
            </a:r>
            <a:br/>
            <a:r>
              <a:t>2. Optuna Optimization: Automatically tunes parameters (estimators, depth, rate) in a 5-trial ROC-AUC study.</a:t>
            </a:r>
            <a:br/>
            <a:r>
              <a:t>3. Supervised Ensemble: Combines predictions of tuned XGBoost and LightGBM models.</a:t>
            </a:r>
            <a:br/>
            <a:r>
              <a:t>4. Isolation Forest: Flags unsupervised structural anomalies.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Trebuchet MS"/>
              </a:defRPr>
            </a:pPr>
            <a:r>
              <a:t>MULEDNA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Trebuchet MS"/>
              </a:defRPr>
            </a:pPr>
            <a:r>
              <a:t>Graph Analytics: Finding Structured Fraud Rings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5120640" cy="43891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4572000" cy="40233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defRPr sz="1800" b="1">
                <a:solidFill>
                  <a:srgbClr val="0EA5E9"/>
                </a:solidFill>
                <a:latin typeface="Trebuchet MS"/>
              </a:defRPr>
            </a:pPr>
            <a:r>
              <a:t>Structural Network Analysis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Calibri"/>
              </a:defRPr>
            </a:pPr>
            <a:r>
              <a:t>Fraudsters hide by routing funds through chains of accounts. Graph theory bypasses this masking.</a:t>
            </a:r>
          </a:p>
          <a:p>
            <a:pPr>
              <a:lnSpc>
                <a:spcPct val="130000"/>
              </a:lnSpc>
              <a:spcBef>
                <a:spcPts val="1500"/>
              </a:spcBef>
              <a:defRPr sz="1250">
                <a:solidFill>
                  <a:srgbClr val="FFFFFF"/>
                </a:solidFill>
                <a:latin typeface="Calibri"/>
              </a:defRPr>
            </a:pPr>
            <a:r>
              <a:t>• Directed Graph Model: Accounts represent nodes; transaction amounts and frequencies map onto weighted directed edges.</a:t>
            </a:r>
            <a:br/>
            <a:r>
              <a:t>• Degree Centrality: Measures general node activity.</a:t>
            </a:r>
            <a:br/>
            <a:r>
              <a:t>• Out-Degree Centrality: Highlights potential Controllers—individuals who receive and disperse stolen funds rapidly.</a:t>
            </a:r>
          </a:p>
        </p:txBody>
      </p:sp>
      <p:sp>
        <p:nvSpPr>
          <p:cNvPr id="6" name="Rectangle 5"/>
          <p:cNvSpPr/>
          <p:nvPr/>
        </p:nvSpPr>
        <p:spPr>
          <a:xfrm>
            <a:off x="6309360" y="1645920"/>
            <a:ext cx="5120640" cy="43891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828800"/>
            <a:ext cx="4572000" cy="40233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defRPr sz="1800" b="1">
                <a:solidFill>
                  <a:srgbClr val="10B981"/>
                </a:solidFill>
                <a:latin typeface="Trebuchet MS"/>
              </a:defRPr>
            </a:pPr>
            <a:r>
              <a:t>Louvain Community Detection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Calibri"/>
              </a:defRPr>
            </a:pPr>
            <a:r>
              <a:t>Organized syndicates run multiple mule accounts that transact heavily among themselves. Louvain detects these clusters.</a:t>
            </a:r>
          </a:p>
          <a:p>
            <a:pPr>
              <a:lnSpc>
                <a:spcPct val="130000"/>
              </a:lnSpc>
              <a:spcBef>
                <a:spcPts val="1500"/>
              </a:spcBef>
              <a:defRPr sz="1250">
                <a:solidFill>
                  <a:srgbClr val="FFFFFF"/>
                </a:solidFill>
                <a:latin typeface="Calibri"/>
              </a:defRPr>
            </a:pPr>
            <a:r>
              <a:t>• Modularity Maximization: Groups accounts into community clusters based on transaction density.</a:t>
            </a:r>
            <a:br/>
            <a:r>
              <a:t>• Fraud Ring Partitioning: Detects closely connected accounts even if no individual account crosses high-risk thresholds.</a:t>
            </a:r>
            <a:br/>
            <a:r>
              <a:t>• Ring Freezing: UX allows security officers to freeze an entire detected fraud ring (all community nodes) in 1-click.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Trebuchet MS"/>
              </a:defRPr>
            </a:pPr>
            <a:r>
              <a:t>MULEDNA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Trebuchet MS"/>
              </a:defRPr>
            </a:pPr>
            <a:r>
              <a:t>Key Product Features &amp; Capabilities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5120640" cy="2011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4754880" cy="182880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defRPr sz="1600" b="1">
                <a:solidFill>
                  <a:srgbClr val="0EA5E9"/>
                </a:solidFill>
                <a:latin typeface="Trebuchet MS"/>
              </a:defRPr>
            </a:pPr>
            <a:r>
              <a:t>Interactive Graph Explorer (React Flow)</a:t>
            </a:r>
          </a:p>
          <a:p>
            <a:pPr>
              <a:spcBef>
                <a:spcPts val="500"/>
              </a:spcBef>
              <a:defRPr sz="1250">
                <a:solidFill>
                  <a:srgbClr val="FFFFFF"/>
                </a:solidFill>
                <a:latin typeface="Calibri"/>
              </a:defRPr>
            </a:pPr>
            <a:r>
              <a:t>Visualizes account nodes as custom color-coded cards (Controllers, Mules, Suspicious, Safe) in clustered communities. Supports interactive panning, zoom, and direct account freezing.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6309360" y="1645920"/>
            <a:ext cx="5120640" cy="2011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737360"/>
            <a:ext cx="4754880" cy="182880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defRPr sz="1600" b="1">
                <a:solidFill>
                  <a:srgbClr val="F43F5E"/>
                </a:solidFill>
                <a:latin typeface="Trebuchet MS"/>
              </a:defRPr>
            </a:pPr>
            <a:r>
              <a:t>Real-Time SMS &amp; Voice Alerts (Twilio)</a:t>
            </a:r>
          </a:p>
          <a:p>
            <a:pPr>
              <a:spcBef>
                <a:spcPts val="500"/>
              </a:spcBef>
              <a:defRPr sz="1250">
                <a:solidFill>
                  <a:srgbClr val="FFFFFF"/>
                </a:solidFill>
                <a:latin typeface="Calibri"/>
              </a:defRPr>
            </a:pPr>
            <a:r>
              <a:t>Fires automated Twilio SMS warnings and voice-call verification prompts directly to customers or security officers on suspicious velocity spikes or impossible logins.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4023360"/>
            <a:ext cx="5120640" cy="2011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114800"/>
            <a:ext cx="4754880" cy="182880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defRPr sz="1600" b="1">
                <a:solidFill>
                  <a:srgbClr val="10B981"/>
                </a:solidFill>
                <a:latin typeface="Trebuchet MS"/>
              </a:defRPr>
            </a:pPr>
            <a:r>
              <a:t>One-Click Compliance Reporting</a:t>
            </a:r>
          </a:p>
          <a:p>
            <a:pPr>
              <a:spcBef>
                <a:spcPts val="500"/>
              </a:spcBef>
              <a:defRPr sz="1250">
                <a:solidFill>
                  <a:srgbClr val="FFFFFF"/>
                </a:solidFill>
                <a:latin typeface="Calibri"/>
              </a:defRPr>
            </a:pPr>
            <a:r>
              <a:t>Generates standardized PDF Suspicious Activity Reports (SARs) instantly for regulatory submission (FIU). Formatted dynamically using fpdf2 with auto-populated feature justifications.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4023360"/>
            <a:ext cx="5120640" cy="2011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4114800"/>
            <a:ext cx="4754880" cy="182880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Trebuchet MS"/>
              </a:defRPr>
            </a:pPr>
            <a:r>
              <a:t>Self-Healing &amp; Training Workflows</a:t>
            </a:r>
          </a:p>
          <a:p>
            <a:pPr>
              <a:spcBef>
                <a:spcPts val="500"/>
              </a:spcBef>
              <a:defRPr sz="1250">
                <a:solidFill>
                  <a:srgbClr val="FFFFFF"/>
                </a:solidFill>
                <a:latin typeface="Calibri"/>
              </a:defRPr>
            </a:pPr>
            <a:r>
              <a:t>Allows bank administrators to trigger model retraining directly from the UI when new labels are provided, re-running Optuna hyperparameter searches dynamically.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Trebuchet MS"/>
              </a:defRPr>
            </a:pPr>
            <a:r>
              <a:t>MULEDNA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Trebuchet MS"/>
              </a:defRPr>
            </a:pPr>
            <a:r>
              <a:t>Business Value &amp; System Resiliency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5120640" cy="43891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4572000" cy="40233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defRPr sz="1800" b="1">
                <a:solidFill>
                  <a:srgbClr val="10B981"/>
                </a:solidFill>
                <a:latin typeface="Trebuchet MS"/>
              </a:defRPr>
            </a:pPr>
            <a:r>
              <a:t>Financial &amp; Regulatory Impact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Calibri"/>
              </a:defRPr>
            </a:pPr>
            <a:r>
              <a:t>Modern banking operations face heavy regulatory fines for AML lapses. MuleDNA protects margins.</a:t>
            </a:r>
          </a:p>
          <a:p>
            <a:pPr>
              <a:lnSpc>
                <a:spcPct val="130000"/>
              </a:lnSpc>
              <a:spcBef>
                <a:spcPts val="1500"/>
              </a:spcBef>
              <a:defRPr sz="1250">
                <a:solidFill>
                  <a:srgbClr val="FFFFFF"/>
                </a:solidFill>
                <a:latin typeface="Calibri"/>
              </a:defRPr>
            </a:pPr>
            <a:r>
              <a:t>• Reduce Regulatory Penalties: Ensures comprehensive auditing and compliance through automatic, structured SAR generation.</a:t>
            </a:r>
            <a:br/>
            <a:r>
              <a:t>• Minimize Operational Overhead: Automated routing of alerts and visual graph clustering reduces analyst manual review workload by up to 60%.</a:t>
            </a:r>
            <a:br/>
            <a:r>
              <a:t>• Proactive Defense: Blocks/freezes transactions *before* funds are routed out of the banking ecosystem.</a:t>
            </a:r>
          </a:p>
        </p:txBody>
      </p:sp>
      <p:sp>
        <p:nvSpPr>
          <p:cNvPr id="6" name="Rectangle 5"/>
          <p:cNvSpPr/>
          <p:nvPr/>
        </p:nvSpPr>
        <p:spPr>
          <a:xfrm>
            <a:off x="6309360" y="1645920"/>
            <a:ext cx="5120640" cy="43891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828800"/>
            <a:ext cx="4572000" cy="40233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defRPr sz="1800" b="1">
                <a:solidFill>
                  <a:srgbClr val="0EA5E9"/>
                </a:solidFill>
                <a:latin typeface="Trebuchet MS"/>
              </a:defRPr>
            </a:pPr>
            <a:r>
              <a:t>Fault-Tolerant Production Design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Calibri"/>
              </a:defRPr>
            </a:pPr>
            <a:r>
              <a:t>Fintech services must run 24/7/365. MuleDNA has native architectural fallback mechanisms.</a:t>
            </a:r>
          </a:p>
          <a:p>
            <a:pPr>
              <a:lnSpc>
                <a:spcPct val="130000"/>
              </a:lnSpc>
              <a:spcBef>
                <a:spcPts val="1500"/>
              </a:spcBef>
              <a:defRPr sz="1250">
                <a:solidFill>
                  <a:srgbClr val="FFFFFF"/>
                </a:solidFill>
                <a:latin typeface="Calibri"/>
              </a:defRPr>
            </a:pPr>
            <a:r>
              <a:t>• Database Fallback: Automatically swaps between PostgreSQL and SQLite depending on service connectivity.</a:t>
            </a:r>
            <a:br/>
            <a:r>
              <a:t>• Resilient Integrations: Handles third-party service downtime (MongoDB, Redis, Twilio) gracefully, switching to offline fallback models to prevent API failure.</a:t>
            </a:r>
            <a:br/>
            <a:r>
              <a:t>• Lightweight &amp; Scalable: Designed to run efficiently in lightweight containers, but leverages robust math models (Louvain, XGBoost).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2011680"/>
            <a:ext cx="91440" cy="29260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1828800"/>
            <a:ext cx="10058400" cy="411480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Trebuchet MS"/>
              </a:defRPr>
            </a:pPr>
            <a:r>
              <a:t>MuleDNA: The Future of Network-Level AML</a:t>
            </a:r>
          </a:p>
          <a:p>
            <a:pPr>
              <a:spcBef>
                <a:spcPts val="2500"/>
              </a:spcBef>
              <a:defRPr sz="2000">
                <a:solidFill>
                  <a:srgbClr val="0EA5E9"/>
                </a:solidFill>
                <a:latin typeface="Trebuchet MS"/>
              </a:defRPr>
            </a:pPr>
            <a:r>
              <a:t>Future Roadmap</a:t>
            </a:r>
          </a:p>
          <a:p>
            <a:pPr>
              <a:lnSpc>
                <a:spcPct val="130000"/>
              </a:lnSpc>
              <a:spcBef>
                <a:spcPts val="1000"/>
              </a:spcBef>
              <a:defRPr sz="1500">
                <a:solidFill>
                  <a:srgbClr val="94A3B8"/>
                </a:solidFill>
                <a:latin typeface="Calibri"/>
              </a:defRPr>
            </a:pPr>
            <a:r>
              <a:t>• Graph Databases: Integration with Neo4j for sub-second, multi-hop query analysis.</a:t>
            </a:r>
            <a:br/>
            <a:r>
              <a:t>• Central Bank Consortiums: Multi-bank ledger mapping to find cross-institution fraud rings.</a:t>
            </a:r>
            <a:br/>
            <a:r>
              <a:t>• Generative Explanations: AI-generated human-readable explanations of complex graph relationships for regulators.</a:t>
            </a:r>
            <a:br/>
            <a:r>
              <a:t>• Zero-Trust KYC: Cryptographic identity validation combined with behavioral graphs.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