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548640" cy="54864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IIT</a:t>
            </a:r>
          </a:p>
        </p:txBody>
      </p:sp>
      <p:sp>
        <p:nvSpPr>
          <p:cNvPr id="4" name="Oval 3"/>
          <p:cNvSpPr/>
          <p:nvPr/>
        </p:nvSpPr>
        <p:spPr>
          <a:xfrm>
            <a:off x="5815584" y="18288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777240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CODE VERSE</a:t>
            </a:r>
          </a:p>
        </p:txBody>
      </p:sp>
      <p:sp>
        <p:nvSpPr>
          <p:cNvPr id="6" name="Diamond 5"/>
          <p:cNvSpPr/>
          <p:nvPr/>
        </p:nvSpPr>
        <p:spPr>
          <a:xfrm>
            <a:off x="11155680" y="182880"/>
            <a:ext cx="548640" cy="548640"/>
          </a:xfrm>
          <a:prstGeom prst="diamond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85313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Arial"/>
              </a:defRPr>
            </a:pPr>
            <a:r>
              <a:t>BUILD</a:t>
            </a:r>
          </a:p>
          <a:p>
            <a:pPr algn="ctr">
              <a:defRPr sz="2000" b="1">
                <a:solidFill>
                  <a:srgbClr val="9333EA"/>
                </a:solidFill>
                <a:latin typeface="Arial"/>
              </a:defRPr>
            </a:pPr>
            <a:r>
              <a:t>WITH</a:t>
            </a:r>
          </a:p>
          <a:p>
            <a:pPr algn="ctr">
              <a:defRPr sz="6400" b="1">
                <a:solidFill>
                  <a:srgbClr val="F97316"/>
                </a:solidFill>
                <a:latin typeface="Arial"/>
              </a:defRPr>
            </a:pPr>
            <a:r>
              <a:t>भारत 2.0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NATIONAL LEVEL HACKATHON</a:t>
            </a:r>
          </a:p>
        </p:txBody>
      </p:sp>
      <p:sp>
        <p:nvSpPr>
          <p:cNvPr id="9" name="Oval 8"/>
          <p:cNvSpPr/>
          <p:nvPr/>
        </p:nvSpPr>
        <p:spPr>
          <a:xfrm>
            <a:off x="5760720" y="4114800"/>
            <a:ext cx="109728" cy="1097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40" y="411480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0" y="4114800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475569"/>
                </a:solidFill>
                <a:latin typeface="Arial"/>
              </a:defRPr>
            </a:pPr>
            <a:r>
              <a:t>TEAM NAME: </a:t>
            </a:r>
            <a:r>
              <a:rPr sz="1400" b="0">
                <a:solidFill>
                  <a:srgbClr val="0F172A"/>
                </a:solidFill>
                <a:latin typeface="Arial"/>
              </a:rPr>
              <a:t>Team MuleDNA</a:t>
            </a:r>
          </a:p>
          <a:p>
            <a:pPr>
              <a:spcAft>
                <a:spcPts val="600"/>
              </a:spcAft>
              <a:defRPr sz="1400" b="1">
                <a:solidFill>
                  <a:srgbClr val="475569"/>
                </a:solidFill>
                <a:latin typeface="Arial"/>
              </a:defRPr>
            </a:pPr>
            <a:r>
              <a:t>PROBLEM STATEMENT: </a:t>
            </a:r>
            <a:r>
              <a:rPr sz="1400" b="0">
                <a:solidFill>
                  <a:srgbClr val="0F172A"/>
                </a:solidFill>
                <a:latin typeface="Arial"/>
              </a:rPr>
              <a:t>Real-Time Mule Account &amp; Fraud Ring Detection using AI and Graph Analytics</a:t>
            </a:r>
          </a:p>
          <a:p>
            <a:pPr>
              <a:spcAft>
                <a:spcPts val="600"/>
              </a:spcAft>
              <a:defRPr sz="1400" b="1">
                <a:solidFill>
                  <a:srgbClr val="475569"/>
                </a:solidFill>
                <a:latin typeface="Arial"/>
              </a:defRPr>
            </a:pPr>
            <a:r>
              <a:t>TEAM MEMBERS: </a:t>
            </a:r>
            <a:r>
              <a:rPr sz="1400" b="0">
                <a:solidFill>
                  <a:srgbClr val="0F172A"/>
                </a:solidFill>
                <a:latin typeface="Arial"/>
              </a:rPr>
              <a:t>Member 1, Member 2, Member 3</a:t>
            </a:r>
          </a:p>
          <a:p>
            <a:pPr>
              <a:spcAft>
                <a:spcPts val="600"/>
              </a:spcAft>
              <a:defRPr sz="1400" b="1">
                <a:solidFill>
                  <a:srgbClr val="475569"/>
                </a:solidFill>
                <a:latin typeface="Arial"/>
              </a:defRPr>
            </a:pPr>
            <a:r>
              <a:t>COLLEGE: </a:t>
            </a:r>
            <a:r>
              <a:rPr sz="1400" b="0">
                <a:solidFill>
                  <a:srgbClr val="0F172A"/>
                </a:solidFill>
                <a:latin typeface="Arial"/>
              </a:rPr>
              <a:t>Enter College Name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73152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6492240"/>
            <a:ext cx="4114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6400800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BUILD WITH </a:t>
            </a:r>
            <a:r>
              <a:rPr sz="1100" b="1">
                <a:solidFill>
                  <a:srgbClr val="F97316"/>
                </a:solidFill>
                <a:latin typeface="Arial"/>
              </a:rPr>
              <a:t>भारत 2.0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6492240"/>
            <a:ext cx="41148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548640" cy="54864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IIT</a:t>
            </a:r>
          </a:p>
        </p:txBody>
      </p:sp>
      <p:sp>
        <p:nvSpPr>
          <p:cNvPr id="4" name="Oval 3"/>
          <p:cNvSpPr/>
          <p:nvPr/>
        </p:nvSpPr>
        <p:spPr>
          <a:xfrm>
            <a:off x="5815584" y="18288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777240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CODE VERSE</a:t>
            </a:r>
          </a:p>
        </p:txBody>
      </p:sp>
      <p:sp>
        <p:nvSpPr>
          <p:cNvPr id="6" name="Diamond 5"/>
          <p:cNvSpPr/>
          <p:nvPr/>
        </p:nvSpPr>
        <p:spPr>
          <a:xfrm>
            <a:off x="11155680" y="182880"/>
            <a:ext cx="548640" cy="548640"/>
          </a:xfrm>
          <a:prstGeom prst="diamond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VP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109728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515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353312"/>
            <a:ext cx="4297680" cy="182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0" y="1298448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6492240"/>
            <a:ext cx="4114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6400800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BUILD WITH </a:t>
            </a:r>
            <a:r>
              <a:rPr sz="1100" b="1">
                <a:solidFill>
                  <a:srgbClr val="F97316"/>
                </a:solidFill>
                <a:latin typeface="Arial"/>
              </a:rPr>
              <a:t>भारत 2.0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6492240"/>
            <a:ext cx="41148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The Money Mule Threat: </a:t>
            </a:r>
            <a:r>
              <a:rPr sz="1550">
                <a:solidFill>
                  <a:srgbClr val="475569"/>
                </a:solidFill>
                <a:latin typeface="Arial"/>
              </a:rPr>
              <a:t>Criminal groups use shell and proxy accounts ("money mules") to receive, layer, and disperse stolen funds rapidly, shielding the core organizers.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Financial &amp; Regulatory Loss: </a:t>
            </a:r>
            <a:r>
              <a:rPr sz="1550">
                <a:solidFill>
                  <a:srgbClr val="475569"/>
                </a:solidFill>
                <a:latin typeface="Arial"/>
              </a:rPr>
              <a:t>Banks lose billions to fraud and face heavy regulatory penalties (RBI, FIU) for failure to maintain robust Anti-Money Laundering (AML) controls.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Rule-Based Blind Spots: </a:t>
            </a:r>
            <a:r>
              <a:rPr sz="1550">
                <a:solidFill>
                  <a:srgbClr val="475569"/>
                </a:solidFill>
                <a:latin typeface="Arial"/>
              </a:rPr>
              <a:t>Legacy AML checks scan transactions in isolation and fail to see high-velocity, multi-hop transfer chains routed across multiple accounts.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Operational Bottleneck: </a:t>
            </a:r>
            <a:r>
              <a:rPr sz="1550">
                <a:solidFill>
                  <a:srgbClr val="475569"/>
                </a:solidFill>
                <a:latin typeface="Arial"/>
              </a:rPr>
              <a:t>High false-positive rates of traditional static rules flood security analysts with alerts, causing critical fraud incidents to be missed.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548640" cy="54864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IIT</a:t>
            </a:r>
          </a:p>
        </p:txBody>
      </p:sp>
      <p:sp>
        <p:nvSpPr>
          <p:cNvPr id="4" name="Oval 3"/>
          <p:cNvSpPr/>
          <p:nvPr/>
        </p:nvSpPr>
        <p:spPr>
          <a:xfrm>
            <a:off x="5815584" y="18288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777240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CODE VERSE</a:t>
            </a:r>
          </a:p>
        </p:txBody>
      </p:sp>
      <p:sp>
        <p:nvSpPr>
          <p:cNvPr id="6" name="Diamond 5"/>
          <p:cNvSpPr/>
          <p:nvPr/>
        </p:nvSpPr>
        <p:spPr>
          <a:xfrm>
            <a:off x="11155680" y="182880"/>
            <a:ext cx="548640" cy="548640"/>
          </a:xfrm>
          <a:prstGeom prst="diamond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VP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109728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515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353312"/>
            <a:ext cx="4297680" cy="182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0" y="1298448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6492240"/>
            <a:ext cx="4114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6400800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BUILD WITH </a:t>
            </a:r>
            <a:r>
              <a:rPr sz="1100" b="1">
                <a:solidFill>
                  <a:srgbClr val="F97316"/>
                </a:solidFill>
                <a:latin typeface="Arial"/>
              </a:rPr>
              <a:t>भारत 2.0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6492240"/>
            <a:ext cx="41148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MuleDNA Intelligence Platform: </a:t>
            </a:r>
            <a:r>
              <a:rPr sz="1550">
                <a:solidFill>
                  <a:srgbClr val="475569"/>
                </a:solidFill>
                <a:latin typeface="Arial"/>
              </a:rPr>
              <a:t>A real-time, network-level anti-money laundering platform that combines machine learning risk scoring with graph community analysis.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Dual-Engine Analysis: </a:t>
            </a:r>
            <a:r>
              <a:rPr sz="1550">
                <a:solidFill>
                  <a:srgbClr val="475569"/>
                </a:solidFill>
                <a:latin typeface="Arial"/>
              </a:rPr>
              <a:t>Integrates supervised/unsupervised ML models to evaluate individual account behaviors, while graph algorithms identify structured transaction networks.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Proactive Network Blocking: </a:t>
            </a:r>
            <a:r>
              <a:rPr sz="1550">
                <a:solidFill>
                  <a:srgbClr val="475569"/>
                </a:solidFill>
                <a:latin typeface="Arial"/>
              </a:rPr>
              <a:t>Allows security teams to freeze an entire identified "Fraud Ring" (all connected community nodes) in a single click, rather than playing catch-up with single transactions.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Automated Compliance reporting: </a:t>
            </a:r>
            <a:r>
              <a:rPr sz="1550">
                <a:solidFill>
                  <a:srgbClr val="475569"/>
                </a:solidFill>
                <a:latin typeface="Arial"/>
              </a:rPr>
              <a:t>Instantly generates standardized PDF Suspicious Activity Reports (SARs) with dynamic mathematical reasoning, ready for regulatory submission.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548640" cy="54864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IIT</a:t>
            </a:r>
          </a:p>
        </p:txBody>
      </p:sp>
      <p:sp>
        <p:nvSpPr>
          <p:cNvPr id="4" name="Oval 3"/>
          <p:cNvSpPr/>
          <p:nvPr/>
        </p:nvSpPr>
        <p:spPr>
          <a:xfrm>
            <a:off x="5815584" y="18288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777240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CODE VERSE</a:t>
            </a:r>
          </a:p>
        </p:txBody>
      </p:sp>
      <p:sp>
        <p:nvSpPr>
          <p:cNvPr id="6" name="Diamond 5"/>
          <p:cNvSpPr/>
          <p:nvPr/>
        </p:nvSpPr>
        <p:spPr>
          <a:xfrm>
            <a:off x="11155680" y="182880"/>
            <a:ext cx="548640" cy="548640"/>
          </a:xfrm>
          <a:prstGeom prst="diamond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VP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109728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515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FLOW OF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353312"/>
            <a:ext cx="4297680" cy="182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0" y="1298448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6492240"/>
            <a:ext cx="4114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6400800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BUILD WITH </a:t>
            </a:r>
            <a:r>
              <a:rPr sz="1100" b="1">
                <a:solidFill>
                  <a:srgbClr val="F97316"/>
                </a:solidFill>
                <a:latin typeface="Arial"/>
              </a:rPr>
              <a:t>भारत 2.0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6492240"/>
            <a:ext cx="41148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103120"/>
            <a:ext cx="246888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240280"/>
            <a:ext cx="2194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97316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Ingestion &amp; Engineering</a:t>
            </a:r>
          </a:p>
          <a:p>
            <a:pPr>
              <a:lnSpc>
                <a:spcPct val="120000"/>
              </a:lnSpc>
              <a:defRPr sz="1150">
                <a:solidFill>
                  <a:srgbClr val="475569"/>
                </a:solidFill>
                <a:latin typeface="Arial"/>
              </a:defRPr>
            </a:pPr>
            <a:r>
              <a:t>Real-time transactions are captured. Behavioral features (velocity ratio, counterparty entropy, impossible travel, holding time) are computed on-the-fly.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103120"/>
            <a:ext cx="246888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2240280"/>
            <a:ext cx="2194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97316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ML Risk Scoring</a:t>
            </a:r>
          </a:p>
          <a:p>
            <a:pPr>
              <a:lnSpc>
                <a:spcPct val="120000"/>
              </a:lnSpc>
              <a:defRPr sz="1150">
                <a:solidFill>
                  <a:srgbClr val="475569"/>
                </a:solidFill>
                <a:latin typeface="Arial"/>
              </a:defRPr>
            </a:pPr>
            <a:r>
              <a:t>Supervised gradient boosters (XGBoost &amp; LightGBM) score individual account risk, backed by Isolation Forest detecting anomalous transaction patterns.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103120"/>
            <a:ext cx="246888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240280"/>
            <a:ext cx="2194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97316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Graph Clustering</a:t>
            </a:r>
          </a:p>
          <a:p>
            <a:pPr>
              <a:lnSpc>
                <a:spcPct val="120000"/>
              </a:lnSpc>
              <a:defRPr sz="1150">
                <a:solidFill>
                  <a:srgbClr val="475569"/>
                </a:solidFill>
                <a:latin typeface="Arial"/>
              </a:defRPr>
            </a:pPr>
            <a:r>
              <a:t>Accounts and transactions are mapped into a NetworkX directed graph. Louvain community detection groups them into visual clusters representing potential fraud rings.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2103120"/>
            <a:ext cx="246888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240280"/>
            <a:ext cx="2194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97316"/>
                </a:solidFill>
                <a:latin typeface="Arial"/>
              </a:defRPr>
            </a:pPr>
            <a:r>
              <a:t>04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Mitigation &amp; Audit</a:t>
            </a:r>
          </a:p>
          <a:p>
            <a:pPr>
              <a:lnSpc>
                <a:spcPct val="120000"/>
              </a:lnSpc>
              <a:defRPr sz="1150">
                <a:solidFill>
                  <a:srgbClr val="475569"/>
                </a:solidFill>
                <a:latin typeface="Arial"/>
              </a:defRPr>
            </a:pPr>
            <a:r>
              <a:t>Suspicious activity triggers Twilio SMS/Voice alerts. Analysts review the visual dashboard to freeze rings and auto-generate compliance PDF SAR reports.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365760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>
                <a:solidFill>
                  <a:srgbClr val="F97316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365760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>
                <a:solidFill>
                  <a:srgbClr val="F97316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365760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>
                <a:solidFill>
                  <a:srgbClr val="F97316"/>
                </a:solidFill>
                <a:latin typeface="Arial"/>
              </a:defRPr>
            </a:pPr>
            <a:r>
              <a:t>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548640" cy="54864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IIT</a:t>
            </a:r>
          </a:p>
        </p:txBody>
      </p:sp>
      <p:sp>
        <p:nvSpPr>
          <p:cNvPr id="4" name="Oval 3"/>
          <p:cNvSpPr/>
          <p:nvPr/>
        </p:nvSpPr>
        <p:spPr>
          <a:xfrm>
            <a:off x="5815584" y="18288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777240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CODE VERSE</a:t>
            </a:r>
          </a:p>
        </p:txBody>
      </p:sp>
      <p:sp>
        <p:nvSpPr>
          <p:cNvPr id="6" name="Diamond 5"/>
          <p:cNvSpPr/>
          <p:nvPr/>
        </p:nvSpPr>
        <p:spPr>
          <a:xfrm>
            <a:off x="11155680" y="182880"/>
            <a:ext cx="548640" cy="548640"/>
          </a:xfrm>
          <a:prstGeom prst="diamond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VP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109728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515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353312"/>
            <a:ext cx="4297680" cy="182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0" y="1298448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6492240"/>
            <a:ext cx="4114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6400800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BUILD WITH </a:t>
            </a:r>
            <a:r>
              <a:rPr sz="1100" b="1">
                <a:solidFill>
                  <a:srgbClr val="F97316"/>
                </a:solidFill>
                <a:latin typeface="Arial"/>
              </a:rPr>
              <a:t>भारत 2.0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6492240"/>
            <a:ext cx="41148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24688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286000"/>
            <a:ext cx="21945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F97316"/>
                </a:solidFill>
                <a:latin typeface="Arial"/>
              </a:defRPr>
            </a:pPr>
            <a:r>
              <a:t>FRONTEND &amp; UX</a:t>
            </a:r>
          </a:p>
          <a:p>
            <a:pPr>
              <a:lnSpc>
                <a:spcPct val="150000"/>
              </a:lnSpc>
              <a:defRPr sz="1300">
                <a:solidFill>
                  <a:srgbClr val="0F172A"/>
                </a:solidFill>
                <a:latin typeface="Arial"/>
              </a:defRPr>
            </a:pPr>
            <a:r>
              <a:t>React.js</a:t>
            </a:r>
            <a:br/>
            <a:r>
              <a:t>React Flow (Graph Canvas)</a:t>
            </a:r>
            <a:br/>
            <a:r>
              <a:t>Tailwind CSS</a:t>
            </a:r>
            <a:br/>
            <a:r>
              <a:t>Socket.io-Client</a:t>
            </a:r>
            <a:br/>
            <a:r>
              <a:t>Chart.js / Recharts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103120"/>
            <a:ext cx="24688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2286000"/>
            <a:ext cx="21945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F97316"/>
                </a:solidFill>
                <a:latin typeface="Arial"/>
              </a:defRPr>
            </a:pPr>
            <a:r>
              <a:t>BACKEND &amp; SERVICE</a:t>
            </a:r>
          </a:p>
          <a:p>
            <a:pPr>
              <a:lnSpc>
                <a:spcPct val="150000"/>
              </a:lnSpc>
              <a:defRPr sz="1300">
                <a:solidFill>
                  <a:srgbClr val="0F172A"/>
                </a:solidFill>
                <a:latin typeface="Arial"/>
              </a:defRPr>
            </a:pPr>
            <a:r>
              <a:t>FastAPI (Python)</a:t>
            </a:r>
            <a:br/>
            <a:r>
              <a:t>SQLAlchemy ORM</a:t>
            </a:r>
            <a:br/>
            <a:r>
              <a:t>Uvicorn Server</a:t>
            </a:r>
            <a:br/>
            <a:r>
              <a:t>SQLite (Embedded fallback)</a:t>
            </a:r>
            <a:br/>
            <a:r>
              <a:t>PostgreSQL &amp; MongoDB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03120"/>
            <a:ext cx="24688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286000"/>
            <a:ext cx="21945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F97316"/>
                </a:solidFill>
                <a:latin typeface="Arial"/>
              </a:defRPr>
            </a:pPr>
            <a:r>
              <a:t>ANALYTICS &amp; ML</a:t>
            </a:r>
          </a:p>
          <a:p>
            <a:pPr>
              <a:lnSpc>
                <a:spcPct val="150000"/>
              </a:lnSpc>
              <a:defRPr sz="1300">
                <a:solidFill>
                  <a:srgbClr val="0F172A"/>
                </a:solidFill>
                <a:latin typeface="Arial"/>
              </a:defRPr>
            </a:pPr>
            <a:r>
              <a:t>XGBoost &amp; LightGBM</a:t>
            </a:r>
            <a:br/>
            <a:r>
              <a:t>Isolation Forest</a:t>
            </a:r>
            <a:br/>
            <a:r>
              <a:t>Optuna Tuning</a:t>
            </a:r>
            <a:br/>
            <a:r>
              <a:t>Custom SMOTE Core</a:t>
            </a:r>
            <a:br/>
            <a:r>
              <a:t>NetworkX / Louvain Graph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103120"/>
            <a:ext cx="24688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286000"/>
            <a:ext cx="21945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F97316"/>
                </a:solidFill>
                <a:latin typeface="Arial"/>
              </a:defRPr>
            </a:pPr>
            <a:r>
              <a:t>ALERTS &amp; REPORTING</a:t>
            </a:r>
          </a:p>
          <a:p>
            <a:pPr>
              <a:lnSpc>
                <a:spcPct val="150000"/>
              </a:lnSpc>
              <a:defRPr sz="1300">
                <a:solidFill>
                  <a:srgbClr val="0F172A"/>
                </a:solidFill>
                <a:latin typeface="Arial"/>
              </a:defRPr>
            </a:pPr>
            <a:r>
              <a:t>Twilio (Voice/SMS API)</a:t>
            </a:r>
            <a:br/>
            <a:r>
              <a:t>Firebase Messaging</a:t>
            </a:r>
            <a:br/>
            <a:r>
              <a:t>fpdf2 PDF Generator</a:t>
            </a:r>
            <a:br/>
            <a:r>
              <a:t>Python Logging</a:t>
            </a:r>
            <a:br/>
            <a:r>
              <a:t>Dotenv Config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548640" cy="54864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IIT</a:t>
            </a:r>
          </a:p>
        </p:txBody>
      </p:sp>
      <p:sp>
        <p:nvSpPr>
          <p:cNvPr id="4" name="Oval 3"/>
          <p:cNvSpPr/>
          <p:nvPr/>
        </p:nvSpPr>
        <p:spPr>
          <a:xfrm>
            <a:off x="5815584" y="18288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777240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CODE VERSE</a:t>
            </a:r>
          </a:p>
        </p:txBody>
      </p:sp>
      <p:sp>
        <p:nvSpPr>
          <p:cNvPr id="6" name="Diamond 5"/>
          <p:cNvSpPr/>
          <p:nvPr/>
        </p:nvSpPr>
        <p:spPr>
          <a:xfrm>
            <a:off x="11155680" y="182880"/>
            <a:ext cx="548640" cy="548640"/>
          </a:xfrm>
          <a:prstGeom prst="diamond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VP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109728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515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UNIQUE SELLING PROPOSITION (USP)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353312"/>
            <a:ext cx="4297680" cy="182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0" y="1298448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6492240"/>
            <a:ext cx="4114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6400800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BUILD WITH </a:t>
            </a:r>
            <a:r>
              <a:rPr sz="1100" b="1">
                <a:solidFill>
                  <a:srgbClr val="F97316"/>
                </a:solidFill>
                <a:latin typeface="Arial"/>
              </a:rPr>
              <a:t>भारत 2.0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6492240"/>
            <a:ext cx="41148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Collective Network Visibility: </a:t>
            </a:r>
            <a:r>
              <a:rPr sz="1550">
                <a:solidFill>
                  <a:srgbClr val="475569"/>
                </a:solidFill>
                <a:latin typeface="Arial"/>
              </a:rPr>
              <a:t>Detects organized, multi-hop money syndicates rather than isolated accounts, preventing bypasses through small, fragmented transaction hops.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Self-Healing Retraining Panel: </a:t>
            </a:r>
            <a:r>
              <a:rPr sz="1550">
                <a:solidFill>
                  <a:srgbClr val="475569"/>
                </a:solidFill>
                <a:latin typeface="Arial"/>
              </a:rPr>
              <a:t>Empowers banking ops to trigger live Optuna-driven hyperparameter tuning directly from the UI when new labeled cases are submitted.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Fault-Tolerant Native Resiliency: </a:t>
            </a:r>
            <a:r>
              <a:rPr sz="1550">
                <a:solidFill>
                  <a:srgbClr val="475569"/>
                </a:solidFill>
                <a:latin typeface="Arial"/>
              </a:rPr>
              <a:t>Built with offline failover safeguards. Swaps automatically between Postgres and SQLite DBs and degrades gracefully during third-party MongoDB/Redis/Twilio downtime.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Algorithmic Custom SMOTE: </a:t>
            </a:r>
            <a:r>
              <a:rPr sz="1550">
                <a:solidFill>
                  <a:srgbClr val="475569"/>
                </a:solidFill>
                <a:latin typeface="Arial"/>
              </a:rPr>
              <a:t>Addresses class imbalance via an embedded KNN oversampler, avoiding heavy dependencies and improving container deployment footprints.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548640" cy="54864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IIT</a:t>
            </a:r>
          </a:p>
        </p:txBody>
      </p:sp>
      <p:sp>
        <p:nvSpPr>
          <p:cNvPr id="4" name="Oval 3"/>
          <p:cNvSpPr/>
          <p:nvPr/>
        </p:nvSpPr>
        <p:spPr>
          <a:xfrm>
            <a:off x="5815584" y="18288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777240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CODE VERSE</a:t>
            </a:r>
          </a:p>
        </p:txBody>
      </p:sp>
      <p:sp>
        <p:nvSpPr>
          <p:cNvPr id="6" name="Diamond 5"/>
          <p:cNvSpPr/>
          <p:nvPr/>
        </p:nvSpPr>
        <p:spPr>
          <a:xfrm>
            <a:off x="11155680" y="182880"/>
            <a:ext cx="548640" cy="548640"/>
          </a:xfrm>
          <a:prstGeom prst="diamond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VP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109728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515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FEASIBILITY &amp; COMPETITORS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353312"/>
            <a:ext cx="4297680" cy="182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0" y="1298448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6492240"/>
            <a:ext cx="4114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6400800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BUILD WITH </a:t>
            </a:r>
            <a:r>
              <a:rPr sz="1100" b="1">
                <a:solidFill>
                  <a:srgbClr val="F97316"/>
                </a:solidFill>
                <a:latin typeface="Arial"/>
              </a:rPr>
              <a:t>भारत 2.0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6492240"/>
            <a:ext cx="41148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Implementation Feasibility: </a:t>
            </a:r>
            <a:r>
              <a:rPr sz="1550">
                <a:solidFill>
                  <a:srgbClr val="475569"/>
                </a:solidFill>
                <a:latin typeface="Arial"/>
              </a:rPr>
              <a:t>Utilizes standard Python APIs and lightweight Web React architectures. Integrates easily into enterprise banking ESBs and Kafka queues as an asynchronous listener.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Key Scaling Challenge: </a:t>
            </a:r>
            <a:r>
              <a:rPr sz="1550">
                <a:solidFill>
                  <a:srgbClr val="475569"/>
                </a:solidFill>
                <a:latin typeface="Arial"/>
              </a:rPr>
              <a:t>Louvain community detection on giant networks can slow down. MuleDNA mitigates this by restricting live graphs to active transaction sub-networks, planning Neo4j upgrades.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Competitor Landscape: </a:t>
            </a:r>
            <a:r>
              <a:rPr sz="1550">
                <a:solidFill>
                  <a:srgbClr val="475569"/>
                </a:solidFill>
                <a:latin typeface="Arial"/>
              </a:rPr>
              <a:t>Legacy providers (Actimize, Oracle Mantas) are slow, rule-bound, and expensive. MuleDNA is real-time, network-aware, container-native, and self-tuning.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Cold-Start Handling: </a:t>
            </a:r>
            <a:r>
              <a:rPr sz="1550">
                <a:solidFill>
                  <a:srgbClr val="475569"/>
                </a:solidFill>
                <a:latin typeface="Arial"/>
              </a:rPr>
              <a:t>Addresses new accounts lacking historical patterns by evaluating early KYC indicators and initial location hops via custom features (e.g. impossible travel).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548640" cy="54864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IIT</a:t>
            </a:r>
          </a:p>
        </p:txBody>
      </p:sp>
      <p:sp>
        <p:nvSpPr>
          <p:cNvPr id="4" name="Oval 3"/>
          <p:cNvSpPr/>
          <p:nvPr/>
        </p:nvSpPr>
        <p:spPr>
          <a:xfrm>
            <a:off x="5815584" y="18288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777240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CODE VERSE</a:t>
            </a:r>
          </a:p>
        </p:txBody>
      </p:sp>
      <p:sp>
        <p:nvSpPr>
          <p:cNvPr id="6" name="Diamond 5"/>
          <p:cNvSpPr/>
          <p:nvPr/>
        </p:nvSpPr>
        <p:spPr>
          <a:xfrm>
            <a:off x="11155680" y="182880"/>
            <a:ext cx="548640" cy="548640"/>
          </a:xfrm>
          <a:prstGeom prst="diamond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VP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109728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515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RESEARCH &amp; REFERENCE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353312"/>
            <a:ext cx="4297680" cy="182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0" y="1298448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6492240"/>
            <a:ext cx="4114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6400800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BUILD WITH </a:t>
            </a:r>
            <a:r>
              <a:rPr sz="1100" b="1">
                <a:solidFill>
                  <a:srgbClr val="F97316"/>
                </a:solidFill>
                <a:latin typeface="Arial"/>
              </a:rPr>
              <a:t>भारत 2.0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6492240"/>
            <a:ext cx="41148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Community Detection Literature: </a:t>
            </a:r>
            <a:r>
              <a:rPr sz="1550">
                <a:solidFill>
                  <a:srgbClr val="475569"/>
                </a:solidFill>
                <a:latin typeface="Arial"/>
              </a:rPr>
              <a:t>Blondel, V. D. et al. (2008). "Fast unfolding of communities in large networks." Journal of Statistical Mechanics: Theory and Experiment.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Class Imbalance Handling: </a:t>
            </a:r>
            <a:r>
              <a:rPr sz="1550">
                <a:solidFill>
                  <a:srgbClr val="475569"/>
                </a:solidFill>
                <a:latin typeface="Arial"/>
              </a:rPr>
              <a:t>Chawla, N. V. et al. (2002). "SMOTE: Synthetic Minority Over-sampling Technique." Journal of Artificial Intelligence Research.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Gradient Boosting &amp; Optuna: </a:t>
            </a:r>
            <a:r>
              <a:rPr sz="1550">
                <a:solidFill>
                  <a:srgbClr val="475569"/>
                </a:solidFill>
                <a:latin typeface="Arial"/>
              </a:rPr>
              <a:t>XGBoost and LightGBM frameworks for classification; Akiba, T. et al. (2019) "Optuna: A Next-generation Hyperparameter Optimization Framework" (KDD).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600">
                <a:solidFill>
                  <a:srgbClr val="F97316"/>
                </a:solidFill>
                <a:latin typeface="Arial"/>
              </a:defRPr>
            </a:pPr>
            <a:r>
              <a:t>•  </a:t>
            </a:r>
            <a:r>
              <a:rPr sz="1600" b="1">
                <a:solidFill>
                  <a:srgbClr val="0F172A"/>
                </a:solidFill>
                <a:latin typeface="Arial"/>
              </a:rPr>
              <a:t>GitHub Repository &amp; Demo: </a:t>
            </a:r>
            <a:r>
              <a:rPr sz="1550">
                <a:solidFill>
                  <a:srgbClr val="475569"/>
                </a:solidFill>
                <a:latin typeface="Arial"/>
              </a:rPr>
              <a:t>Project Repository: https://github.com/your-org/muledna  |  Demo Site: http://localhost:3000 (React Frontend Dev Server)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